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"/>
            <a:ext cx="2560320" cy="4997196"/>
          </a:xfrm>
          <a:prstGeom prst="rect">
            <a:avLst/>
          </a:prstGeom>
          <a:solidFill>
            <a:srgbClr val="081422"/>
          </a:solidFill>
          <a:ln w="12700">
            <a:solidFill>
              <a:srgbClr val="0814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2011680" cy="201168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457200"/>
            <a:ext cx="1645920" cy="164592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114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Attack Classification on CICIDS2017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Elito Chan Jr.  |  PGD AIML Capstone  |  Cybersecurity Domain  |  Technical 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417320" cy="2926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Multiclass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3749040"/>
            <a:ext cx="1417320" cy="2926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749040"/>
            <a:ext cx="1417320" cy="2926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3749040"/>
            <a:ext cx="1417320" cy="2926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&amp; Success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Problem Understanding &amp; Framing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face overwhelming alert volumes from rule-based systems. Manual inspection of network logs at scale is neither timely nor practical.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inaction: avg breach costs $4.45M (IBM 2023) with 277-day mean detection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Automatically distinguish malicious from benign traffic, reducing MTTD from days to minutes.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4297680" cy="16002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Primary: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 (Normal vs. Attack)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Secondary: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(8 attack categories)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Complement: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baseline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4297680" cy="1828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Technical: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 0.95 (attack), FPR ≤ 0.05, AUC-ROC ≥ 0.98, Macro F1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Business: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reduction, alert fatigue rate &lt; 10%, analyst hours saved/week, cost avoidance vs. $4.45M baseline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CICIDS2017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Collection &amp; Understanding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01168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499,993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 sample)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201168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1460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(CICFlowMeter)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1168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634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Labels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attack types + Benign)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960120"/>
            <a:ext cx="2011680" cy="11430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81228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 imbalance challenge)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5303520" cy="24688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65176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65176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65176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93522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293522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401,501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293522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935224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18688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Variants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3218688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3218688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8.93%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218688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0215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/ PortScan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50215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28,072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350215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5.61%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502152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85616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3785616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22,613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86200" y="3785616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785616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6908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406908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86200" y="4069080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069080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5254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+ Infiltration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435254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86200" y="4352544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352544"/>
            <a:ext cx="5029200" cy="0"/>
          </a:xfrm>
          <a:prstGeom prst="line">
            <a:avLst/>
          </a:prstGeom>
          <a:noFill/>
          <a:ln w="6350">
            <a:solidFill>
              <a:srgbClr val="0B1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2240280"/>
            <a:ext cx="2971800" cy="24688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94360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4360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62940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rows in rate features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3209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629400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 (div by 0)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0" y="3721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629400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Zero-variance features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4233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62940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variance features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&amp; 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Data Preprocessing, EDA &amp; Feature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Preprocessing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002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on numeric feature key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Zero/Near-Zero Variance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12 constant/near-constant columns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80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deletion (&lt; 0.05% of data)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3375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Value Capping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204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99.9th percentile (Flow Bytes/s)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9776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Robust Scaling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160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features → RobustScaler (saved to pkl)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960120"/>
            <a:ext cx="4251960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Domain-Derived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453896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byte_asymmetry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1627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byte imbalance — flags DoS (near ±1)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975104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938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packet_asymmetry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148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ratio for packet counts — catches scan probes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496312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459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flag_intensity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(SYN+RST+FIN) / total pkts — detects SYN floods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017520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9809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payload_to_header_ratio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payload vs. header overhead — low in scans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538728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duration_bin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5-category ordinal: zero-duration → 1s+ (non-linear)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4059936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tcp_udp_flags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4233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binary protocol indicators for linear models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&amp; 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Applied EDA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605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Separation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plots confirm clean separation between benign and attack distributions post-preprocessing. Byte asymmetry and flag intensity show the strongest class boundaries.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960120"/>
            <a:ext cx="41605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399032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reveals tight IAT and byte-volume clusters (r &gt; 0.95). Justified correlation filter removing redundant features in selection stage.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17830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272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Signatures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5643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heatmap confirms distinct profiles: DDoS/DoS → high flag intensity; Botnet/Infiltration → near-benign (low volume, stealthy behavior).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4160520" cy="17830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01752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272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t-SNE 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45643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PC1/PC2 separate Benign, DDoS, DoS, Probe into distinct regions. t-SNE reveals tighter non-linear clusters. Botnet/Infiltration overlap Benign (challenge for Step 4).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Dimensionality Reduction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Feature Selection &amp; PCA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Feature Selection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463040" cy="914400"/>
          </a:xfrm>
          <a:prstGeom prst="rect">
            <a:avLst/>
          </a:prstGeom>
          <a:solidFill>
            <a:srgbClr val="1A3050"/>
          </a:solidFill>
          <a:ln w="12700">
            <a:solidFill>
              <a:srgbClr val="0B1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Raw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Engineered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84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828800"/>
            <a:ext cx="201168" cy="0"/>
          </a:xfrm>
          <a:prstGeom prst="line">
            <a:avLst/>
          </a:prstGeom>
          <a:noFill/>
          <a:ln w="19050">
            <a:solidFill>
              <a:srgbClr val="7EA8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7128" y="1371600"/>
            <a:ext cx="1463040" cy="914400"/>
          </a:xfrm>
          <a:prstGeom prst="rect">
            <a:avLst/>
          </a:prstGeom>
          <a:solidFill>
            <a:srgbClr val="1D4060"/>
          </a:solidFill>
          <a:ln w="12700">
            <a:solidFill>
              <a:srgbClr val="0B1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0.01)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30168" y="1828800"/>
            <a:ext cx="201168" cy="0"/>
          </a:xfrm>
          <a:prstGeom prst="line">
            <a:avLst/>
          </a:prstGeom>
          <a:noFill/>
          <a:ln w="19050">
            <a:solidFill>
              <a:srgbClr val="7E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1336" y="1371600"/>
            <a:ext cx="1463040" cy="914400"/>
          </a:xfrm>
          <a:prstGeom prst="rect">
            <a:avLst/>
          </a:prstGeom>
          <a:solidFill>
            <a:srgbClr val="205070"/>
          </a:solidFill>
          <a:ln w="12700">
            <a:solidFill>
              <a:srgbClr val="0B1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&gt; 0.95)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94376" y="1828800"/>
            <a:ext cx="201168" cy="0"/>
          </a:xfrm>
          <a:prstGeom prst="line">
            <a:avLst/>
          </a:prstGeom>
          <a:noFill/>
          <a:ln w="19050">
            <a:solidFill>
              <a:srgbClr val="7EA8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95544" y="1371600"/>
            <a:ext cx="1463040" cy="914400"/>
          </a:xfrm>
          <a:prstGeom prst="rect">
            <a:avLst/>
          </a:prstGeom>
          <a:solidFill>
            <a:srgbClr val="236080"/>
          </a:solidFill>
          <a:ln w="12700">
            <a:solidFill>
              <a:srgbClr val="0B1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Top-40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|SHAP| &gt; 0.001)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58584" y="1828800"/>
            <a:ext cx="201168" cy="0"/>
          </a:xfrm>
          <a:prstGeom prst="line">
            <a:avLst/>
          </a:prstGeom>
          <a:noFill/>
          <a:ln w="19050">
            <a:solidFill>
              <a:srgbClr val="7EA8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1371600"/>
            <a:ext cx="1463040" cy="914400"/>
          </a:xfrm>
          <a:prstGeom prst="rect">
            <a:avLst/>
          </a:prstGeom>
          <a:solidFill>
            <a:srgbClr val="009E85"/>
          </a:solidFill>
          <a:ln w="12700">
            <a:solidFill>
              <a:srgbClr val="0B1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to CSV)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4160520" cy="19202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670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95% Variance Retention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980944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PCA reduces 40 features to ~N components capturing 95% of variance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shows clear elbow after first ~8-10 components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PC1/PC2 scatter: Benign, DDoS, DoS, Probe form distinct regions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Saved: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pca_95.pkl + robust_scaler.pkl (reproducible pipeline)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578608"/>
            <a:ext cx="4160520" cy="19202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670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Non-linear 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980944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10K-row stratified sample (perplexity=30, 1000 iter)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tighter DDoS/DoS clusters vs. PCA linear projection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and Infiltration partially embedded within Benign cluster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need for class-weighting strategy in Step 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 &amp; Comparison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Model Implementation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69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Three model families selected: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069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(linear baseline)  →  Random Forest (ensemble, parallelisable)  →  XGBoost (gradient boosting, highest ceiling for tabular data)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(Normal vs. Attack)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75688"/>
          <a:ext cx="5029200" cy="128016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822960"/>
                <a:gridCol w="91440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(Atk)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E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E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E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E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E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04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456432"/>
            <a:ext cx="502920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(Weighted F1) — XGBoost: 0.9990 ± 0.0001  |  Random Forest: 0.9987 ± 0.0001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858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standard deviation confirms stable generalisation — test performance is not an artifact of a favorable split.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1755648"/>
            <a:ext cx="3246120" cy="2880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1847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Summary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150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150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28529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15000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0" y="31912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15000" y="3529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0" y="3529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71500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98080" y="3867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715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Explainability: SHAP, LIME &amp; PDP/ICE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Critical Thinking &amp; Ethical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(XGBoost)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beeswarm: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are Flow Bytes/s, Total Fwd Packets, SYN Flag Count, byte_asymmetry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Waterfall plots: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predictions decomposed additively from base value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Dependence plots: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Monotonic, piecewise-linear relationships — no spurious artefacts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960120"/>
            <a:ext cx="4251960" cy="1828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(Local Surrogates)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explainer fit on training distribution
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top-5 features overlap with TreeSHAP rankings
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across two fundamentally different methods strengthens confidence the model relies on interpretable, domain-relevant signals — not spurious correlations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023360" cy="1554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+ ICE (Random Forest)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PDP trends match most ICE lines (low heterogeneity). Exception: Flow Duration — ICE diverges for near-zero flows, exposing a model sub-group threshold effect.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907792"/>
            <a:ext cx="4251960" cy="1554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Mean |SHAP|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37560"/>
            <a:ext cx="2377440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3375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557016"/>
            <a:ext cx="1901952" cy="164592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35570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Fwd Packets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776472"/>
            <a:ext cx="1426464" cy="16459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77647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995928"/>
            <a:ext cx="950976" cy="164592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3995928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byte_asymmetry 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4215384"/>
            <a:ext cx="475488" cy="16459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215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(neg)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Audit, Limitations &amp; Mitigations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Ethical AI &amp; Bias Auditing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2423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Analysis (Proxy Groups)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94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demographics in CICIDS2017. Four operational proxy groups analysed: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quartile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(Q1–Q4 by fwd bytes)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bin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(zero → 1s+)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group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(TCP vs. non-TCP)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Metrics: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PPR, FPR, FNR per group + Disparate Impact Ratio
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Finding: 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DIR=0.30 (FAIL), Duration DIR=0.40 (FAIL) — both reflect attack base-rate differences, not model bias. FPR range &lt;0.005, FNR range &lt;0.002 across all groups: equalized odds effectively satisfied.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2423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51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(0.07%) and Infiltration (6 records) — low recall despite weighting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9110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Leakage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0939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 requires completed flow; latency issue for real-time IDS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404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Drift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587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from July 2017; TLS 1.3/QUIC shift affects feature distributions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8986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Evasion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81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or padding attack flows can bypass signature-based 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02152"/>
            <a:ext cx="841248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93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867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SMOTE/ADASYN for Botnet &amp; Infiltration minorities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31136" y="39044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3867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Sub-flow model on first 10 pkts (real-time IDS)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13632" y="39044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867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monitoring on top-10 SHAP features (retrain at PSI &gt; 0.20)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96128" y="39044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7296" y="3867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threshold calibration (FNR ± 0.02 tolerance)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78624" y="39044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867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queue for borderline cases (P: 0.40–0.70)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Recommended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1188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11680" cy="1188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2011680" cy="1188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84)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2011680" cy="11887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1228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160520" cy="2606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743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SMOTE/ADASYN for Botnet &amp; Infiltration to improve minority recall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36392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136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sub-flow model on first-packet features for real-time detection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29584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29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35295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PSI monitoring pipeline for feature drift detection in production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22776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227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39227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per-group decision threshold calibration for equalized FNR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15968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4315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XGBoost + Random Forest for production robustness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286000"/>
            <a:ext cx="4160520" cy="2606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Verdict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2743200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XGBoost (tuned)
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 (0.999), Macro F1 (0.967), and Recall (0.983). SHAP-compatible. Regularisation reduces overfitting risk.
</a:t>
            </a:r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Random Forest (tuned)
</a:t>
            </a:r>
            <a:pPr indent="0" marL="0">
              <a:buNone/>
            </a:pPr>
            <a:r>
              <a:rPr lang="en-US" sz="1100" dirty="0">
                <a:solidFill>
                  <a:srgbClr val="D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performance, simpler deployment, native parallelism at inference. Recommended ensemble candidate with XGBoost for production.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Intrusion Detection – Technical Presentation</dc:title>
  <dc:subject>PptxGenJS Presentation</dc:subject>
  <dc:creator>Jairu</dc:creator>
  <cp:lastModifiedBy>Jairu</cp:lastModifiedBy>
  <cp:revision>1</cp:revision>
  <dcterms:created xsi:type="dcterms:W3CDTF">2026-03-26T04:29:26Z</dcterms:created>
  <dcterms:modified xsi:type="dcterms:W3CDTF">2026-03-26T04:29:26Z</dcterms:modified>
</cp:coreProperties>
</file>