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?>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?>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"1.0" encoding="UTF-8"?>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583680" y="73152"/>
            <a:ext cx="2560320" cy="4997196"/>
          </a:xfrm>
          <a:prstGeom prst="rect">
            <a:avLst/>
          </a:prstGeom>
          <a:solidFill>
            <a:srgbClr val="081422"/>
          </a:solidFill>
          <a:ln w="12700">
            <a:solidFill>
              <a:srgbClr val="08142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6858000" y="274320"/>
            <a:ext cx="2011680" cy="2011680"/>
          </a:xfrm>
          <a:prstGeom prst="ellipse">
            <a:avLst/>
          </a:prstGeom>
          <a:solidFill>
            <a:srgbClr val="00C9A7">
              <a:alpha val="15000"/>
            </a:srgbClr>
          </a:solidFill>
          <a:ln w="12700">
            <a:solidFill>
              <a:srgbClr val="00C9A7">
                <a:alpha val="30000"/>
              </a:srgbClr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040880" y="457200"/>
            <a:ext cx="1645920" cy="1645920"/>
          </a:xfrm>
          <a:prstGeom prst="ellipse">
            <a:avLst/>
          </a:prstGeom>
          <a:solidFill>
            <a:srgbClr val="00C9A7">
              <a:alpha val="30000"/>
            </a:srgbClr>
          </a:solidFill>
          <a:ln w="12700">
            <a:solidFill>
              <a:srgbClr val="00C9A7">
                <a:alpha val="50000"/>
              </a:srgbClr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914400"/>
            <a:ext cx="5943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Intrusion Detection</a:t>
            </a:r>
            <a:endParaRPr lang="en-US" sz="3800" dirty="0"/>
          </a:p>
        </p:txBody>
      </p:sp>
      <p:sp>
        <p:nvSpPr>
          <p:cNvPr id="8" name="Text 6"/>
          <p:cNvSpPr/>
          <p:nvPr/>
        </p:nvSpPr>
        <p:spPr>
          <a:xfrm>
            <a:off x="457200" y="1572768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Machine Learning</a:t>
            </a:r>
            <a:endParaRPr lang="en-US" sz="3200" dirty="0"/>
          </a:p>
        </p:txBody>
      </p:sp>
      <p:sp>
        <p:nvSpPr>
          <p:cNvPr id="9" name="Shape 7"/>
          <p:cNvSpPr/>
          <p:nvPr/>
        </p:nvSpPr>
        <p:spPr>
          <a:xfrm>
            <a:off x="457200" y="2212848"/>
            <a:ext cx="4114800" cy="0"/>
          </a:xfrm>
          <a:prstGeom prst="line">
            <a:avLst/>
          </a:prstGeom>
          <a:noFill/>
          <a:ln w="25400">
            <a:solidFill>
              <a:srgbClr val="00C9A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233172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Anomaly &amp; Attack Classification on CICIDS2017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57200" y="301752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Elito Chan Jr.  |  PGD AIML Capstone  |  Cybersecurity Domain  |  Technical Presentation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57200" y="3749040"/>
            <a:ext cx="1417320" cy="292608"/>
          </a:xfrm>
          <a:prstGeom prst="rect">
            <a:avLst/>
          </a:prstGeom>
          <a:solidFill>
            <a:srgbClr val="00C9A7">
              <a:alpha val="25000"/>
            </a:srgbClr>
          </a:solidFill>
          <a:ln w="12700">
            <a:solidFill>
              <a:srgbClr val="00C9A7">
                <a:alpha val="60000"/>
              </a:srgbClr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490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&amp; Multiclass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011680" y="3749040"/>
            <a:ext cx="1417320" cy="292608"/>
          </a:xfrm>
          <a:prstGeom prst="rect">
            <a:avLst/>
          </a:prstGeom>
          <a:solidFill>
            <a:srgbClr val="00C9A7">
              <a:alpha val="25000"/>
            </a:srgbClr>
          </a:solidFill>
          <a:ln w="12700">
            <a:solidFill>
              <a:srgbClr val="00C9A7">
                <a:alpha val="60000"/>
              </a:srgbClr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011680" y="37490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RF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566160" y="3749040"/>
            <a:ext cx="1417320" cy="292608"/>
          </a:xfrm>
          <a:prstGeom prst="rect">
            <a:avLst/>
          </a:prstGeom>
          <a:solidFill>
            <a:srgbClr val="00C9A7">
              <a:alpha val="25000"/>
            </a:srgbClr>
          </a:solidFill>
          <a:ln w="12700">
            <a:solidFill>
              <a:srgbClr val="00C9A7">
                <a:alpha val="60000"/>
              </a:srgbClr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566160" y="37490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120640" y="3749040"/>
            <a:ext cx="1417320" cy="292608"/>
          </a:xfrm>
          <a:prstGeom prst="rect">
            <a:avLst/>
          </a:prstGeom>
          <a:solidFill>
            <a:srgbClr val="00C9A7">
              <a:alpha val="25000"/>
            </a:srgbClr>
          </a:solidFill>
          <a:ln w="12700">
            <a:solidFill>
              <a:srgbClr val="00C9A7">
                <a:alpha val="60000"/>
              </a:srgbClr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120640" y="3749040"/>
            <a:ext cx="1417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Audit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22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 Framing &amp; Success Metrics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1: Problem Understanding &amp; Framing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A3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3931920" cy="356616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Problem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417320"/>
            <a:ext cx="3566160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face overwhelming alert volumes from rule-based systems. Manual inspection of network logs at scale is neither timely nor practical.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of inaction: avg breach costs $4.45M (IBM 2023) with 277-day mean detection time.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Automatically distinguish malicious from benign traffic, reducing MTTD from days to minutes.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480560" y="960120"/>
            <a:ext cx="4297680" cy="16002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663440" y="10515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Type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663440" y="1371600"/>
            <a:ext cx="393192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Primary: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Supervised binary classification (Normal vs. Attack)
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Secondary: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Multiclass (8 attack categories)
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Complement: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Unsupervised anomaly detection baseline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480560" y="2697480"/>
            <a:ext cx="4297680" cy="18288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278892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 Metrics &amp; KPIs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663440" y="3108960"/>
            <a:ext cx="3931920" cy="1234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Technical: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≥ 0.95 (attack), FPR ≤ 0.05, AUC-ROC ≥ 0.98, Macro F1
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Business: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MTTD reduction, alert fatigue rate &lt; 10%, analyst hours saved/week, cost avoidance vs. $4.45M baseline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22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CICIDS2017 Overview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2: Data Collection &amp; Understanding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A3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2011680" cy="11430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36576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499,993</a:t>
            </a:r>
            <a:endParaRPr lang="en-US" sz="4400" dirty="0"/>
          </a:p>
        </p:txBody>
      </p:sp>
      <p:sp>
        <p:nvSpPr>
          <p:cNvPr id="8" name="Text 6"/>
          <p:cNvSpPr/>
          <p:nvPr/>
        </p:nvSpPr>
        <p:spPr>
          <a:xfrm>
            <a:off x="365760" y="1664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Records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(stratified sample)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514600" y="960120"/>
            <a:ext cx="2011680" cy="11430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25146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78</a:t>
            </a:r>
            <a:endParaRPr lang="en-US" sz="4400" dirty="0"/>
          </a:p>
        </p:txBody>
      </p:sp>
      <p:sp>
        <p:nvSpPr>
          <p:cNvPr id="11" name="Text 9"/>
          <p:cNvSpPr/>
          <p:nvPr/>
        </p:nvSpPr>
        <p:spPr>
          <a:xfrm>
            <a:off x="2514600" y="1664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Numeric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(CICFlowMeter)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663440" y="960120"/>
            <a:ext cx="2011680" cy="11430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66344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4400" dirty="0"/>
          </a:p>
        </p:txBody>
      </p:sp>
      <p:sp>
        <p:nvSpPr>
          <p:cNvPr id="14" name="Text 12"/>
          <p:cNvSpPr/>
          <p:nvPr/>
        </p:nvSpPr>
        <p:spPr>
          <a:xfrm>
            <a:off x="4663440" y="1664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Distinct Labels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(14 attack types + Benign)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812280" y="960120"/>
            <a:ext cx="2011680" cy="11430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681228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80.3%</a:t>
            </a:r>
            <a:endParaRPr lang="en-US" sz="4400" dirty="0"/>
          </a:p>
        </p:txBody>
      </p:sp>
      <p:sp>
        <p:nvSpPr>
          <p:cNvPr id="17" name="Text 15"/>
          <p:cNvSpPr/>
          <p:nvPr/>
        </p:nvSpPr>
        <p:spPr>
          <a:xfrm>
            <a:off x="6812280" y="1664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 Traffic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(class imbalance challenge)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2240280"/>
            <a:ext cx="5303520" cy="246888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23317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Distribution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02920" y="2651760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Category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194560" y="2651760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886200" y="2651760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02920" y="2935224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Benign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2194560" y="2935224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401,501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3886200" y="2935224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80.30%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502920" y="2935224"/>
            <a:ext cx="5029200" cy="0"/>
          </a:xfrm>
          <a:prstGeom prst="line">
            <a:avLst/>
          </a:prstGeom>
          <a:noFill/>
          <a:ln w="6350">
            <a:solidFill>
              <a:srgbClr val="0B1A2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02920" y="3218688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 Variants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2194560" y="3218688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44,627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886200" y="3218688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8.93%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02920" y="3218688"/>
            <a:ext cx="5029200" cy="0"/>
          </a:xfrm>
          <a:prstGeom prst="line">
            <a:avLst/>
          </a:prstGeom>
          <a:noFill/>
          <a:ln w="6350">
            <a:solidFill>
              <a:srgbClr val="0B1A2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02920" y="3502152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 / PortScan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2194560" y="3502152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28,072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886200" y="3502152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5.61%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502920" y="3502152"/>
            <a:ext cx="5029200" cy="0"/>
          </a:xfrm>
          <a:prstGeom prst="line">
            <a:avLst/>
          </a:prstGeom>
          <a:noFill/>
          <a:ln w="6350">
            <a:solidFill>
              <a:srgbClr val="0B1A2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02920" y="3785616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2194560" y="3785616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22,613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3886200" y="3785616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4.52%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02920" y="3785616"/>
            <a:ext cx="5029200" cy="0"/>
          </a:xfrm>
          <a:prstGeom prst="line">
            <a:avLst/>
          </a:prstGeom>
          <a:noFill/>
          <a:ln w="6350">
            <a:solidFill>
              <a:srgbClr val="0B1A2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502920" y="4069080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 Force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2194560" y="4069080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2,443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886200" y="4069080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0.49%</a:t>
            </a:r>
            <a:endParaRPr lang="en-US" sz="1100" dirty="0"/>
          </a:p>
        </p:txBody>
      </p:sp>
      <p:sp>
        <p:nvSpPr>
          <p:cNvPr id="42" name="Shape 40"/>
          <p:cNvSpPr/>
          <p:nvPr/>
        </p:nvSpPr>
        <p:spPr>
          <a:xfrm>
            <a:off x="502920" y="4069080"/>
            <a:ext cx="5029200" cy="0"/>
          </a:xfrm>
          <a:prstGeom prst="line">
            <a:avLst/>
          </a:prstGeom>
          <a:noFill/>
          <a:ln w="6350">
            <a:solidFill>
              <a:srgbClr val="0B1A2C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502920" y="4352544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Botnet + Infiltration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2194560" y="4352544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353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3886200" y="4352544"/>
            <a:ext cx="1627632" cy="283464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0.07%</a:t>
            </a:r>
            <a:endParaRPr lang="en-US" sz="1100" dirty="0"/>
          </a:p>
        </p:txBody>
      </p:sp>
      <p:sp>
        <p:nvSpPr>
          <p:cNvPr id="46" name="Shape 44"/>
          <p:cNvSpPr/>
          <p:nvPr/>
        </p:nvSpPr>
        <p:spPr>
          <a:xfrm>
            <a:off x="502920" y="4352544"/>
            <a:ext cx="5029200" cy="0"/>
          </a:xfrm>
          <a:prstGeom prst="line">
            <a:avLst/>
          </a:prstGeom>
          <a:noFill/>
          <a:ln w="6350">
            <a:solidFill>
              <a:srgbClr val="0B1A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06440" y="2240280"/>
            <a:ext cx="2971800" cy="246888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5943600" y="233172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Quality Issues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5943600" y="2697480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1800" dirty="0"/>
          </a:p>
        </p:txBody>
      </p:sp>
      <p:sp>
        <p:nvSpPr>
          <p:cNvPr id="50" name="Text 48"/>
          <p:cNvSpPr/>
          <p:nvPr/>
        </p:nvSpPr>
        <p:spPr>
          <a:xfrm>
            <a:off x="6629400" y="2715768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NaN rows in rate features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5943600" y="3209544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</a:t>
            </a:r>
            <a:endParaRPr lang="en-US" sz="1800" dirty="0"/>
          </a:p>
        </p:txBody>
      </p:sp>
      <p:sp>
        <p:nvSpPr>
          <p:cNvPr id="52" name="Text 50"/>
          <p:cNvSpPr/>
          <p:nvPr/>
        </p:nvSpPr>
        <p:spPr>
          <a:xfrm>
            <a:off x="6629400" y="3227832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Bytes/s (div by 0)</a:t>
            </a:r>
            <a:endParaRPr lang="en-US" sz="1100" dirty="0"/>
          </a:p>
        </p:txBody>
      </p:sp>
      <p:sp>
        <p:nvSpPr>
          <p:cNvPr id="53" name="Text 51"/>
          <p:cNvSpPr/>
          <p:nvPr/>
        </p:nvSpPr>
        <p:spPr>
          <a:xfrm>
            <a:off x="5943600" y="3721608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800" dirty="0"/>
          </a:p>
        </p:txBody>
      </p:sp>
      <p:sp>
        <p:nvSpPr>
          <p:cNvPr id="54" name="Text 52"/>
          <p:cNvSpPr/>
          <p:nvPr/>
        </p:nvSpPr>
        <p:spPr>
          <a:xfrm>
            <a:off x="6629400" y="3739896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Zero-variance features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5943600" y="4233672"/>
            <a:ext cx="640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56" name="Text 54"/>
          <p:cNvSpPr/>
          <p:nvPr/>
        </p:nvSpPr>
        <p:spPr>
          <a:xfrm>
            <a:off x="6629400" y="4251960"/>
            <a:ext cx="1920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Near-zero variance features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22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 Pipeline &amp; Feature Engineering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Data Preprocessing, EDA &amp; Feature Engineering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A3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4023360" cy="356616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5-Step Preprocessing Pipeline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347472" cy="34747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4173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60120" y="141732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Duplicate Removal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960120" y="160020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on numeric feature key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02920" y="2057400"/>
            <a:ext cx="347472" cy="34747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574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960120" y="205740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Zero/Near-Zero Variance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960120" y="22402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Dropped 12 constant/near-constant columns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02920" y="2697480"/>
            <a:ext cx="347472" cy="34747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2920" y="2697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60120" y="269748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Missing Value Handling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960120" y="288036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deletion (&lt; 0.05% of data)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02920" y="3337560"/>
            <a:ext cx="347472" cy="34747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33756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60120" y="333756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Infinite Value Capping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960120" y="352044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at 99.9th percentile (Flow Bytes/s)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02920" y="3977640"/>
            <a:ext cx="347472" cy="34747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02920" y="39776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960120" y="397764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Log1p + Robust Scaling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960120" y="4160520"/>
            <a:ext cx="3246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Skewed features → RobustScaler (saved to pkl)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526280" y="960120"/>
            <a:ext cx="4251960" cy="356616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10515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Domain-Derived Features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4709160" y="1453896"/>
            <a:ext cx="54864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892040" y="1417320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byte_asymmetry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4892040" y="1627632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Directional byte imbalance — flags DoS (near ±1)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4709160" y="1975104"/>
            <a:ext cx="54864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4892040" y="1938528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packet_asymmetry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4892040" y="2148840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ratio for packet counts — catches scan probes</a:t>
            </a:r>
            <a:endParaRPr lang="en-US" sz="1000" dirty="0"/>
          </a:p>
        </p:txBody>
      </p:sp>
      <p:sp>
        <p:nvSpPr>
          <p:cNvPr id="36" name="Shape 34"/>
          <p:cNvSpPr/>
          <p:nvPr/>
        </p:nvSpPr>
        <p:spPr>
          <a:xfrm>
            <a:off x="4709160" y="2496312"/>
            <a:ext cx="54864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892040" y="2459736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flag_intensity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4892040" y="2670048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(SYN+RST+FIN) / total pkts — detects SYN floods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3017520"/>
            <a:ext cx="54864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92040" y="2980944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payload_to_header_ratio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4892040" y="3191256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Fwd payload vs. header overhead — low in scans</a:t>
            </a:r>
            <a:endParaRPr lang="en-US" sz="1000" dirty="0"/>
          </a:p>
        </p:txBody>
      </p:sp>
      <p:sp>
        <p:nvSpPr>
          <p:cNvPr id="42" name="Shape 40"/>
          <p:cNvSpPr/>
          <p:nvPr/>
        </p:nvSpPr>
        <p:spPr>
          <a:xfrm>
            <a:off x="4709160" y="3538728"/>
            <a:ext cx="54864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92040" y="3502152"/>
            <a:ext cx="3749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duration_bin</a:t>
            </a:r>
            <a:endParaRPr lang="en-US" sz="1100" dirty="0"/>
          </a:p>
        </p:txBody>
      </p:sp>
      <p:sp>
        <p:nvSpPr>
          <p:cNvPr id="44" name="Text 42"/>
          <p:cNvSpPr/>
          <p:nvPr/>
        </p:nvSpPr>
        <p:spPr>
          <a:xfrm>
            <a:off x="4892040" y="3712464"/>
            <a:ext cx="3749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5-category ordinal: zero-duration → 1s+ (non-linear)</a:t>
            </a:r>
            <a:endParaRPr lang="en-US" sz="1000" dirty="0"/>
          </a:p>
        </p:txBody>
      </p:sp>
      <p:sp>
        <p:nvSpPr>
          <p:cNvPr id="45" name="Shape 43"/>
          <p:cNvSpPr/>
          <p:nvPr/>
        </p:nvSpPr>
        <p:spPr>
          <a:xfrm>
            <a:off x="4709160" y="4059936"/>
            <a:ext cx="54864" cy="32004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22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Highlights &amp; Key Findings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Applied EDA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A3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4160520" cy="196596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65760" y="960120"/>
            <a:ext cx="416052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0698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Separation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1399032"/>
            <a:ext cx="3794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KDE plots confirm clean separation between benign and attack distributions post-preprocessing. Byte asymmetry and flag intensity show the strongest class boundaries.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617720" y="960120"/>
            <a:ext cx="4160520" cy="196596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960120"/>
            <a:ext cx="4160520" cy="54864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00600" y="10698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Correlations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4800600" y="1399032"/>
            <a:ext cx="379476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 heatmap reveals tight IAT and byte-volume clusters (r &gt; 0.95). Justified correlation filter removing redundant features in selection stage.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3017520"/>
            <a:ext cx="4160520" cy="178308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365760" y="3017520"/>
            <a:ext cx="416052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31272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Signatures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548640" y="3456432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Per-category heatmap confirms distinct profiles: DDoS/DoS → high flag intensity; Botnet/Infiltration → near-benign (low volume, stealthy behavior).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4160520" cy="178308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4160520" cy="54864"/>
          </a:xfrm>
          <a:prstGeom prst="rect">
            <a:avLst/>
          </a:prstGeom>
          <a:solidFill>
            <a:srgbClr val="F5A623"/>
          </a:solidFill>
          <a:ln w="12700">
            <a:solidFill>
              <a:srgbClr val="F5A62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94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+ t-SNE Structure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4800600" y="3456432"/>
            <a:ext cx="379476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PC1/PC2 separate Benign, DDoS, DoS, Probe into distinct regions. t-SNE reveals tighter non-linear clusters. Botnet/Infiltration overlap Benign (challenge for Step 4).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22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Selection &amp; Dimensionality Reduction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3: Feature Selection &amp; PCA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A3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146304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3-Stage Feature Selection Pipeline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502920" y="1371600"/>
            <a:ext cx="1463040" cy="914400"/>
          </a:xfrm>
          <a:prstGeom prst="rect">
            <a:avLst/>
          </a:prstGeom>
          <a:solidFill>
            <a:srgbClr val="1A3050"/>
          </a:solidFill>
          <a:ln w="12700">
            <a:solidFill>
              <a:srgbClr val="0B1A2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371600"/>
            <a:ext cx="1463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66 Base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+ 5 Engineered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71 Features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1965960" y="1828800"/>
            <a:ext cx="201168" cy="0"/>
          </a:xfrm>
          <a:prstGeom prst="line">
            <a:avLst/>
          </a:prstGeom>
          <a:noFill/>
          <a:ln w="19050">
            <a:solidFill>
              <a:srgbClr val="7EA8C4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167128" y="1371600"/>
            <a:ext cx="1463040" cy="914400"/>
          </a:xfrm>
          <a:prstGeom prst="rect">
            <a:avLst/>
          </a:prstGeom>
          <a:solidFill>
            <a:srgbClr val="1D4060"/>
          </a:solidFill>
          <a:ln w="12700">
            <a:solidFill>
              <a:srgbClr val="0B1A2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167128" y="1371600"/>
            <a:ext cx="1463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Variance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Threshold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(&lt; 0.01)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30168" y="1828800"/>
            <a:ext cx="201168" cy="0"/>
          </a:xfrm>
          <a:prstGeom prst="line">
            <a:avLst/>
          </a:prstGeom>
          <a:noFill/>
          <a:ln w="19050">
            <a:solidFill>
              <a:srgbClr val="7EA8C4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831336" y="1371600"/>
            <a:ext cx="1463040" cy="914400"/>
          </a:xfrm>
          <a:prstGeom prst="rect">
            <a:avLst/>
          </a:prstGeom>
          <a:solidFill>
            <a:srgbClr val="205070"/>
          </a:solidFill>
          <a:ln w="12700">
            <a:solidFill>
              <a:srgbClr val="0B1A2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831336" y="1371600"/>
            <a:ext cx="1463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Correlation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Filter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(r &gt; 0.95)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294376" y="1828800"/>
            <a:ext cx="201168" cy="0"/>
          </a:xfrm>
          <a:prstGeom prst="line">
            <a:avLst/>
          </a:prstGeom>
          <a:noFill/>
          <a:ln w="19050">
            <a:solidFill>
              <a:srgbClr val="7EA8C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495544" y="1371600"/>
            <a:ext cx="1463040" cy="914400"/>
          </a:xfrm>
          <a:prstGeom prst="rect">
            <a:avLst/>
          </a:prstGeom>
          <a:solidFill>
            <a:srgbClr val="236080"/>
          </a:solidFill>
          <a:ln w="12700">
            <a:solidFill>
              <a:srgbClr val="0B1A2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95544" y="1371600"/>
            <a:ext cx="1463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Top-40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</a:t>
            </a:r>
            <a:endParaRPr lang="en-US" sz="900" dirty="0"/>
          </a:p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(mean |SHAP| &gt; 0.001)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958584" y="1828800"/>
            <a:ext cx="201168" cy="0"/>
          </a:xfrm>
          <a:prstGeom prst="line">
            <a:avLst/>
          </a:prstGeom>
          <a:noFill/>
          <a:ln w="19050">
            <a:solidFill>
              <a:srgbClr val="7EA8C4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159752" y="1371600"/>
            <a:ext cx="1463040" cy="914400"/>
          </a:xfrm>
          <a:prstGeom prst="rect">
            <a:avLst/>
          </a:prstGeom>
          <a:solidFill>
            <a:srgbClr val="009E85"/>
          </a:solidFill>
          <a:ln w="12700">
            <a:solidFill>
              <a:srgbClr val="0B1A2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159752" y="1371600"/>
            <a:ext cx="1463040" cy="9144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 Final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Features</a:t>
            </a:r>
            <a:endParaRPr lang="en-US" sz="900" dirty="0"/>
          </a:p>
          <a:p>
            <a:pPr algn="ctr" indent="0" marL="0">
              <a:buNone/>
            </a:pPr>
            <a:r>
              <a:rPr lang="en-US" sz="9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(saved to CSV)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365760" y="2578608"/>
            <a:ext cx="4160520" cy="192024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48640" y="267004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 — 95% Variance Retention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48640" y="2980944"/>
            <a:ext cx="3794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PCA reduces 40 features to ~N components capturing 95% of variance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 plot shows clear elbow after first ~8-10 components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PC1/PC2 scatter: Benign, DDoS, DoS, Probe form distinct regions
</a:t>
            </a:r>
            <a:endParaRPr lang="en-US" sz="1100" dirty="0"/>
          </a:p>
          <a:p>
            <a:pPr indent="0" marL="0">
              <a:buNone/>
            </a:pPr>
            <a:r>
              <a:rPr lang="en-US" sz="1100" b="1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Saved: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pca_95.pkl + robust_scaler.pkl (reproducible pipeline)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4617720" y="2578608"/>
            <a:ext cx="4160520" cy="192024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800600" y="2670048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t-SNE — Non-linear Structure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800600" y="2980944"/>
            <a:ext cx="379476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 on 10K-row stratified sample (perplexity=30, 1000 iter)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Reveals tighter DDoS/DoS clusters vs. PCA linear projection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Botnet and Infiltration partially embedded within Benign cluster
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Confirms need for class-weighting strategy in Step 4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22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Implementation &amp; Comparison Results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4: Model Implementation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A3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8412480" cy="658368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69848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Three model families selected: 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0" y="1069848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Logistic Regression (linear baseline)  →  Random Forest (ensemble, parallelisable)  →  XGBoost (gradient boosting, highest ceiling for tabular data)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55648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Classification (Normal vs. Attack)</a:t>
            </a:r>
            <a:endParaRPr lang="en-US" sz="13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2075688"/>
          <a:ext cx="5029200" cy="1280160"/>
        </p:xfrm>
        <a:graphic>
          <a:graphicData uri="http://schemas.openxmlformats.org/drawingml/2006/table">
            <a:tbl>
              <a:tblPr/>
              <a:tblGrid>
                <a:gridCol w="1645920"/>
                <a:gridCol w="822960"/>
                <a:gridCol w="822960"/>
                <a:gridCol w="914400"/>
                <a:gridCol w="822960"/>
              </a:tblGrid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C9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Model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C9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AUC-ROC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C9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Macro F1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C9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Recall (Atk)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0C9A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FPR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8E8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Regression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8E8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8E8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0.793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8E8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3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8E8F4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0.146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83C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 (tuned)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305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(tuned)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0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0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0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04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5A6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B1A2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83048"/>
                    </a:solidFill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365760" y="3456432"/>
            <a:ext cx="5029200" cy="100584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9"/>
          <p:cNvSpPr/>
          <p:nvPr/>
        </p:nvSpPr>
        <p:spPr>
          <a:xfrm>
            <a:off x="548640" y="353872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5-Fold Stratified CV (Weighted F1) — XGBoost: 0.9990 ± 0.0001  |  Random Forest: 0.9987 ± 0.0001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548640" y="3858768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standard deviation confirms stable generalisation — test performance is not an artifact of a favorable split.</a:t>
            </a:r>
            <a:endParaRPr lang="en-US" sz="1000" dirty="0"/>
          </a:p>
        </p:txBody>
      </p:sp>
      <p:sp>
        <p:nvSpPr>
          <p:cNvPr id="14" name="Shape 11"/>
          <p:cNvSpPr/>
          <p:nvPr/>
        </p:nvSpPr>
        <p:spPr>
          <a:xfrm>
            <a:off x="5532120" y="1755648"/>
            <a:ext cx="3246120" cy="288036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2"/>
          <p:cNvSpPr/>
          <p:nvPr/>
        </p:nvSpPr>
        <p:spPr>
          <a:xfrm>
            <a:off x="5715000" y="184708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Multiclass Summary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715000" y="217627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</a:t>
            </a:r>
            <a:endParaRPr lang="en-US" sz="1000" dirty="0"/>
          </a:p>
        </p:txBody>
      </p:sp>
      <p:sp>
        <p:nvSpPr>
          <p:cNvPr id="17" name="Text 14"/>
          <p:cNvSpPr/>
          <p:nvPr/>
        </p:nvSpPr>
        <p:spPr>
          <a:xfrm>
            <a:off x="7498080" y="217627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 Recall</a:t>
            </a:r>
            <a:endParaRPr lang="en-US" sz="1000" dirty="0"/>
          </a:p>
        </p:txBody>
      </p:sp>
      <p:sp>
        <p:nvSpPr>
          <p:cNvPr id="18" name="Text 15"/>
          <p:cNvSpPr/>
          <p:nvPr/>
        </p:nvSpPr>
        <p:spPr>
          <a:xfrm>
            <a:off x="5715000" y="251460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DoS</a:t>
            </a:r>
            <a:endParaRPr lang="en-US" sz="1100" dirty="0"/>
          </a:p>
        </p:txBody>
      </p:sp>
      <p:sp>
        <p:nvSpPr>
          <p:cNvPr id="19" name="Text 16"/>
          <p:cNvSpPr/>
          <p:nvPr/>
        </p:nvSpPr>
        <p:spPr>
          <a:xfrm>
            <a:off x="7498080" y="25146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0.98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715000" y="285292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DDoS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7498080" y="285292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0.97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5715000" y="3191256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Probe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7498080" y="319125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0.95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5715000" y="3529584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Brute Force</a:t>
            </a:r>
            <a:endParaRPr lang="en-US" sz="1100" dirty="0"/>
          </a:p>
        </p:txBody>
      </p:sp>
      <p:sp>
        <p:nvSpPr>
          <p:cNvPr id="25" name="Text 22"/>
          <p:cNvSpPr/>
          <p:nvPr/>
        </p:nvSpPr>
        <p:spPr>
          <a:xfrm>
            <a:off x="7498080" y="352958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0.88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5715000" y="3867912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Botnet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498080" y="386791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</a:t>
            </a:r>
            <a:endParaRPr lang="en-US" sz="1200" dirty="0"/>
          </a:p>
        </p:txBody>
      </p:sp>
      <p:sp>
        <p:nvSpPr>
          <p:cNvPr id="28" name="Text 25"/>
          <p:cNvSpPr/>
          <p:nvPr/>
        </p:nvSpPr>
        <p:spPr>
          <a:xfrm>
            <a:off x="5715000" y="4206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Infiltration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498080" y="4206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0.34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22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Explainability: SHAP, LIME &amp; PDP/ICE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Critical Thinking &amp; Ethical AI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A3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4023360" cy="18288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TreeSHAP (XGBoost)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36576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Global beeswarm: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drivers are Flow Bytes/s, Total Fwd Packets, SYN Flag Count, byte_asymmetry
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Waterfall plots: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Individual predictions decomposed additively from base value
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Dependence plots: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Monotonic, piecewise-linear relationships — no spurious artefacts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26280" y="960120"/>
            <a:ext cx="4251960" cy="182880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709160" y="1051560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LIME (Local Surrogates)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709160" y="1371600"/>
            <a:ext cx="38862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Tabular explainer fit on training distribution
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of top-5 features overlap with TreeSHAP rankings
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Convergence across two fundamentally different methods strengthens confidence the model relies on interpretable, domain-relevant signals — not spurious correlations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365760" y="2907792"/>
            <a:ext cx="4023360" cy="1554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548640" y="2999232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PDP + ICE (Random Forest)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548640" y="3310128"/>
            <a:ext cx="365760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 PDP trends match most ICE lines (low heterogeneity). Exception: Flow Duration — ICE diverges for near-zero flows, exposing a model sub-group threshold effect.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26280" y="2907792"/>
            <a:ext cx="4251960" cy="155448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709160" y="2999232"/>
            <a:ext cx="3886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Features by Mean |SHAP|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709160" y="3337560"/>
            <a:ext cx="2377440" cy="164592"/>
          </a:xfrm>
          <a:prstGeom prst="rect">
            <a:avLst/>
          </a:prstGeom>
          <a:solidFill>
            <a:srgbClr val="00C9A7"/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114032" y="3337560"/>
            <a:ext cx="1737360" cy="1645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Bytes/s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4709160" y="3557016"/>
            <a:ext cx="1901952" cy="164592"/>
          </a:xfrm>
          <a:prstGeom prst="rect">
            <a:avLst/>
          </a:prstGeom>
          <a:solidFill>
            <a:srgbClr val="00C9A7">
              <a:alpha val="90000"/>
            </a:srgbClr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638544" y="3557016"/>
            <a:ext cx="2212848" cy="1645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Fwd Packets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709160" y="3776472"/>
            <a:ext cx="1426464" cy="164592"/>
          </a:xfrm>
          <a:prstGeom prst="rect">
            <a:avLst/>
          </a:prstGeom>
          <a:solidFill>
            <a:srgbClr val="00C9A7">
              <a:alpha val="80000"/>
            </a:srgbClr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163056" y="3776472"/>
            <a:ext cx="2688336" cy="1645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 Flag Count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709160" y="3995928"/>
            <a:ext cx="950976" cy="164592"/>
          </a:xfrm>
          <a:prstGeom prst="rect">
            <a:avLst/>
          </a:prstGeom>
          <a:solidFill>
            <a:srgbClr val="F5A623">
              <a:alpha val="70000"/>
            </a:srgbClr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687568" y="3995928"/>
            <a:ext cx="3163824" cy="1645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byte_asymmetry ★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709160" y="4215384"/>
            <a:ext cx="475488" cy="164592"/>
          </a:xfrm>
          <a:prstGeom prst="rect">
            <a:avLst/>
          </a:prstGeom>
          <a:solidFill>
            <a:srgbClr val="00C9A7">
              <a:alpha val="60000"/>
            </a:srgbClr>
          </a:solidFill>
          <a:ln w="12700">
            <a:solidFill>
              <a:srgbClr val="1A305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212080" y="4215384"/>
            <a:ext cx="3639312" cy="164592"/>
          </a:xfrm>
          <a:prstGeom prst="rect">
            <a:avLst/>
          </a:prstGeom>
          <a:noFill/>
          <a:ln/>
        </p:spPr>
        <p:txBody>
          <a:bodyPr wrap="square" lIns="0" tIns="0" rIns="5080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Duration (neg)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22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65760" y="256032"/>
            <a:ext cx="54864" cy="502920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84124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Bias Audit, Limitations &amp; Mitigations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365760" y="4846320"/>
            <a:ext cx="84124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5: Ethical AI &amp; Bias Auditing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365760" y="4828032"/>
            <a:ext cx="8412480" cy="0"/>
          </a:xfrm>
          <a:prstGeom prst="line">
            <a:avLst/>
          </a:prstGeom>
          <a:noFill/>
          <a:ln w="12700">
            <a:solidFill>
              <a:srgbClr val="1A305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960120"/>
            <a:ext cx="4160520" cy="242316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Fairness Analysis (Proxy Groups)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48640" y="1371600"/>
            <a:ext cx="379476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personal demographics in CICIDS2017. Four operational proxy groups analysed: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Traffic volume quartile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(Q1–Q4 by fwd bytes)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duration bin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(zero → 1s+)
</a:t>
            </a:r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Protocol group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 (TCP vs. non-TCP)
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Metrics: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PPR, FPR, FNR per group + Disparate Impact Ratio
</a:t>
            </a:r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 xml:space="preserve">Finding: 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 DIR=0.30 (FAIL), Duration DIR=0.40 (FAIL) — both reflect attack base-rate differences, not model bias. FPR range &lt;0.005, FNR range &lt;0.002 across all groups: equalized odds effectively satisfied.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617720" y="960120"/>
            <a:ext cx="4160520" cy="242316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800600" y="105156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Limitations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4800600" y="1417320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800600" y="1600200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Botnet (0.07%) and Infiltration (6 records) — low recall despite weighting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4800600" y="191109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Leakage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800600" y="2093976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 Bytes/s requires completed flow; latency issue for real-time IDS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800600" y="2404872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Temporal Drift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800600" y="2587752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CICIDS2017 from July 2017; TLS 1.3/QUIC shift affects feature distributions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800600" y="289864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0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Adversarial Evasion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800600" y="3081528"/>
            <a:ext cx="3794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Rate-limiting or padding attack flows can bypass signature-based detection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365760" y="3502152"/>
            <a:ext cx="8412480" cy="100584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3593592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Mitigations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3904488"/>
            <a:ext cx="164592" cy="16459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38679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SMOTE/ADASYN for Botnet &amp; Infiltration minorities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2231136" y="3904488"/>
            <a:ext cx="164592" cy="16459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432304" y="38679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Sub-flow model on first 10 pkts (real-time IDS)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3913632" y="3904488"/>
            <a:ext cx="164592" cy="16459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114800" y="38679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PSI monitoring on top-10 SHAP features (retrain at PSI &gt; 0.20)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596128" y="3904488"/>
            <a:ext cx="164592" cy="16459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797296" y="38679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Per-group threshold calibration (FNR ± 0.02 tolerance)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278624" y="3904488"/>
            <a:ext cx="164592" cy="164592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479792" y="3867912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queue for borderline cases (P: 0.40–0.70)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A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5070348"/>
            <a:ext cx="9144000" cy="73152"/>
          </a:xfrm>
          <a:prstGeom prst="rect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32004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Conclusions &amp; Recommended Next Steps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365760" y="960120"/>
            <a:ext cx="2011680" cy="118872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36576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1664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AUC-ROC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(Binary)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514600" y="960120"/>
            <a:ext cx="2011680" cy="118872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251460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0.999</a:t>
            </a:r>
            <a:endParaRPr lang="en-US" sz="4400" dirty="0"/>
          </a:p>
        </p:txBody>
      </p:sp>
      <p:sp>
        <p:nvSpPr>
          <p:cNvPr id="10" name="Text 8"/>
          <p:cNvSpPr/>
          <p:nvPr/>
        </p:nvSpPr>
        <p:spPr>
          <a:xfrm>
            <a:off x="2514600" y="1664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 Recall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(Binary)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663440" y="960120"/>
            <a:ext cx="2011680" cy="118872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4400" dirty="0"/>
          </a:p>
        </p:txBody>
      </p:sp>
      <p:sp>
        <p:nvSpPr>
          <p:cNvPr id="13" name="Text 11"/>
          <p:cNvSpPr/>
          <p:nvPr/>
        </p:nvSpPr>
        <p:spPr>
          <a:xfrm>
            <a:off x="4663440" y="1664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Selected Features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(from 84)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812280" y="960120"/>
            <a:ext cx="2011680" cy="118872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812280" y="1005840"/>
            <a:ext cx="20116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4400" dirty="0"/>
          </a:p>
        </p:txBody>
      </p:sp>
      <p:sp>
        <p:nvSpPr>
          <p:cNvPr id="16" name="Text 14"/>
          <p:cNvSpPr/>
          <p:nvPr/>
        </p:nvSpPr>
        <p:spPr>
          <a:xfrm>
            <a:off x="6812280" y="1664208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  <a:p>
            <a:pPr algn="ctr" indent="0" marL="0">
              <a:buNone/>
            </a:pPr>
            <a:r>
              <a:rPr lang="en-US" sz="1100" dirty="0">
                <a:solidFill>
                  <a:srgbClr val="7EA8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Methods Used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2286000"/>
            <a:ext cx="4160520" cy="260604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48640" y="23774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Recommended Next Steps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2743200"/>
            <a:ext cx="219456" cy="219456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48640" y="2743200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841248" y="2743200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SMOTE/ADASYN for Botnet &amp; Infiltration to improve minority recall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136392"/>
            <a:ext cx="219456" cy="219456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48640" y="3136392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841248" y="3136392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sub-flow model on first-packet features for real-time detection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3529584"/>
            <a:ext cx="219456" cy="219456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48640" y="3529584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841248" y="3529584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PSI monitoring pipeline for feature drift detection in production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48640" y="3922776"/>
            <a:ext cx="219456" cy="219456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48640" y="3922776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841248" y="3922776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 per-group decision threshold calibration for equalized FNR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548640" y="4315968"/>
            <a:ext cx="219456" cy="219456"/>
          </a:xfrm>
          <a:prstGeom prst="ellipse">
            <a:avLst/>
          </a:prstGeom>
          <a:solidFill>
            <a:srgbClr val="00C9A7"/>
          </a:solidFill>
          <a:ln w="12700">
            <a:solidFill>
              <a:srgbClr val="00C9A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48640" y="4315968"/>
            <a:ext cx="21945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A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41248" y="4315968"/>
            <a:ext cx="3520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Ensemble XGBoost + Random Forest for production robustness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4617720" y="2286000"/>
            <a:ext cx="4160520" cy="2606040"/>
          </a:xfrm>
          <a:prstGeom prst="rect">
            <a:avLst/>
          </a:prstGeom>
          <a:solidFill>
            <a:srgbClr val="1A3050"/>
          </a:solidFill>
          <a:ln w="12700">
            <a:solidFill>
              <a:srgbClr val="1A305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25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800600" y="2377440"/>
            <a:ext cx="3794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Selection Verdict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4800600" y="2743200"/>
            <a:ext cx="379476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5A62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Primary: XGBoost (tuned)
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AUC-ROC (1.000), Binary Macro F1 (0.998), and Attack Recall (0.999). SHAP-compatible. Regularisation reduces overfitting risk.
</a:t>
            </a:r>
            <a:pPr indent="0" marL="0">
              <a:buNone/>
            </a:pPr>
            <a:r>
              <a:rPr lang="en-US" sz="1100" b="1" dirty="0">
                <a:solidFill>
                  <a:srgbClr val="00C9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Fallback: Random Forest (tuned)
</a:t>
            </a:r>
            <a:pPr indent="0" marL="0">
              <a:buNone/>
            </a:pPr>
            <a:r>
              <a:rPr lang="en-US" sz="1100" dirty="0">
                <a:solidFill>
                  <a:srgbClr val="D8E8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Competitive performance, simpler deployment, native parallelism at inference. Recommended ensemble candidate with XGBoost for production.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Network Intrusion Detection – Technical Presentation</dc:title>
  <dc:subject>PptxGenJS Presentation</dc:subject>
  <dc:creator>Jairu</dc:creator>
  <cp:lastModifiedBy>Jairu</cp:lastModifiedBy>
  <cp:revision>1</cp:revision>
  <dcterms:created xsi:type="dcterms:W3CDTF">2026-03-26T04:29:26Z</dcterms:created>
  <dcterms:modified xsi:type="dcterms:W3CDTF">2026-03-26T04:29:26Z</dcterms:modified>
</cp:coreProperties>
</file>